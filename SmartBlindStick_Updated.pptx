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17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182880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82880"/>
            <a:ext cx="1463040" cy="1463040"/>
          </a:xfrm>
          <a:prstGeom prst="ellipse">
            <a:avLst/>
          </a:prstGeom>
          <a:solidFill>
            <a:srgbClr val="0A6070">
              <a:alpha val="60000"/>
            </a:srgbClr>
          </a:solidFill>
          <a:ln w="12700">
            <a:solidFill>
              <a:srgbClr val="0A60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194560"/>
            <a:ext cx="1463040" cy="1463040"/>
          </a:xfrm>
          <a:prstGeom prst="ellipse">
            <a:avLst/>
          </a:prstGeom>
          <a:solidFill>
            <a:srgbClr val="0A6070">
              <a:alpha val="60000"/>
            </a:srgbClr>
          </a:solidFill>
          <a:ln w="12700">
            <a:solidFill>
              <a:srgbClr val="0A6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2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&amp; COMMUNICATION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Blind Stick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2004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Technology for the Visually Impaired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Presented by: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/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Guide: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Guide 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2024-25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Smart Blind Stick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6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109728" cy="32004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17320"/>
            <a:ext cx="7863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an IoT-based Smart Blind Stick built on the ESP32 DevKitC microcontroller, designed to assist visually impaired individuals in navigating safely and independently. The system integrates two HC-SR04 ultrasonic sensors (obstacle detection at front and pit/stair detection downward), a NEO-6M GPS module for live location tracking, a vibration motor and buzzer for multi-level haptic and audio alerts, and an SSD1306 OLED display for real-time status feedback.</a:t>
            </a:r>
            <a:endParaRPr lang="en-US" sz="1300" dirty="0"/>
          </a:p>
          <a:p>
            <a:pPr algn="just" indent="0" marL="0">
              <a:spcAft>
                <a:spcPts val="800"/>
              </a:spcAft>
              <a:buNone/>
            </a:pPr>
            <a:endParaRPr lang="en-US" sz="1300" dirty="0"/>
          </a:p>
          <a:p>
            <a:pPr algn="just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connects to Wi-Fi and uploads GPS coordinates and obstacle distance data to a Supabase cloud database every 10 seconds, enabling remote monitoring by caregivers. Buzzer and vibration alerts are triggered with variable frequency patterns depending on obstacle proximity (close: 20 cm, medium: 50 cm, far: 100 cm). The downward sensor detects pits and stairs beyond 70 cm depth with a rapid double-pulse alert.</a:t>
            </a:r>
            <a:endParaRPr lang="en-US" sz="1300" dirty="0"/>
          </a:p>
          <a:p>
            <a:pPr algn="just" indent="0" marL="0">
              <a:spcAft>
                <a:spcPts val="800"/>
              </a:spcAft>
              <a:buNone/>
            </a:pPr>
            <a:endParaRPr lang="en-US" sz="1300" dirty="0"/>
          </a:p>
          <a:p>
            <a:pPr algn="just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Programmed using Arduino IDE with C++ and key libraries (TinyGPS++, Adafruit SSD1306, HTTPClient), this low-cost and portable solution aims to significantly enhance the mobility, safety, and independence of visually impaired persons through IoT-driven assistive technology.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Smart Blind Stick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6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HC-SR04 ultrasonic sensors: one front-facing for obstacles, one downward-facing for pit/stair detection, with variable buzzer and vibration alerts.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6888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NEO-6M GPS module decodes live coordinates via TinyGPS++ library and uploads to Supabase cloud every 10 seconds over Wi-Fi for caregiver remote monitoring.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6616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639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audio (buzzer) and tactile (vibration) alerts for immediate feedback.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37160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65192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128x64 OLED (I2C on GPIO21/22) shows live OBS/DEP distances and active sensor state, giving the user visual system feedback.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4688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46888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5192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to Supabase REST API uploads GPS + obstacle data every 10s. Wi-Fi reconnection logic handles signal drops automatically.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5661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6616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639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65192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DevKitC chosen for built-in Wi-Fi/BLE, dual-core CPU, multiple UART/I2C interfaces, and more GPIOs than Arduino Uno, all without extra modules.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Smart Blind Stick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6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
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2.2 billion people worldwide have visual impairment (WHO). Traditional white canes offer limited assistance and lack smart capabilities.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
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sticks cannot detect elevated obstacles, open manholes, or wet surfaces. There is no location-sharing feature for caregiver monitoring.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
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stick embedded with IoT sensors that detects obstacles, alerts the user, and shares GPS location providing safety and independence.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1371600"/>
            <a:ext cx="27432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76072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Impaired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(WHO)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2560320"/>
            <a:ext cx="27432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76072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Persons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3749040"/>
            <a:ext cx="27432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60720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Tech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Smart Blind Stick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6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0" cy="7498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[1]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Soundarya RP et al., 2020 (IACIT)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17190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Blind Stick Using Arduino (REVA Univ.). Uses Arduino Mega 2560 + ultrasonic + IR sensors. Buzzer alerts at 30 cm. Trained users achieve 2x walking speed over untrained users.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94560"/>
            <a:ext cx="548640" cy="7498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9456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[2]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Keerthana MM et al., 2024 (IJCRT)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54203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Enabled Smart Blind Stick (ATME Mysuru). ESP32-based system with 3 ultrasonic sensors (front/left/right), water sensor, APR voice module, and live GPS tracking via Android + Blynk app.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548640" cy="7498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175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[3]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Khir et al., 2025 (MARI Journal)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36499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SmartSight: IoT Smart Blind Stick with Weather Detection (UTHM Malaysia). Arduino + ESP8266 + GPS + GSM. Adds temperature/humidity sensor and water sensor. Avg user satisfaction 4.13/5.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40480"/>
            <a:ext cx="548640" cy="7498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04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[4]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Jyoth Singh et al., 2025 (IJCRT)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418795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Blind Aid Stick: Enhancing Mobility &amp; Safety (SRK Institute). ESP8266 + ultrasonic + Blynk IoT app. Emergency SMS with GPS location on button press. Detects obstacles &lt;20 cm.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Smart Blind Stick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6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 &amp; Proposed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25880"/>
            <a:ext cx="3931920" cy="3291840"/>
          </a:xfrm>
          <a:prstGeom prst="rect">
            <a:avLst/>
          </a:prstGeom>
          <a:solidFill>
            <a:srgbClr val="FFF1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25880"/>
            <a:ext cx="39319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Existing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810512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white cane - no electronics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obstacle detection capability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GPS or location tracking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elevated obstacles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caregiver alert mechanism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water / pit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60520" y="2651760"/>
            <a:ext cx="82296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651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325880"/>
            <a:ext cx="3931920" cy="329184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25880"/>
            <a:ext cx="3931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Proposed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810512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DevKitC (38-pin) with built-in Wi-Fi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HC-SR04: front obstacle + downward pit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NEO-6M GPS + Supabase cloud monitoring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buzz patterns by obstacle proximity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OLED display for real-time status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(GPIO23) + vibration motor (GPIO19)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Smart Blind Stick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6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DevKitC Pin Connections (from actual code)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148840"/>
            <a:ext cx="219456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ESP32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DevKitC (38-pin)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417320"/>
            <a:ext cx="64008" cy="777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63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#1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(Obstacle - Front)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TRIG=GPIO5 / ECHO=GPIO18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1805940"/>
            <a:ext cx="640080" cy="0"/>
          </a:xfrm>
          <a:prstGeom prst="line">
            <a:avLst/>
          </a:prstGeom>
          <a:noFill/>
          <a:ln w="19050">
            <a:solidFill>
              <a:srgbClr val="12A3B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74320" y="25603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60320"/>
            <a:ext cx="64008" cy="777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#2 (Pit/Depth - Down)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TRIG=GPIO25 / ECHO=GPIO26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2948940"/>
            <a:ext cx="640080" cy="0"/>
          </a:xfrm>
          <a:prstGeom prst="line">
            <a:avLst/>
          </a:prstGeom>
          <a:noFill/>
          <a:ln w="19050">
            <a:solidFill>
              <a:srgbClr val="12A3B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74320" y="361188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611880"/>
            <a:ext cx="64008" cy="777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(Active)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GPIO23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34640" y="4000500"/>
            <a:ext cx="640080" cy="0"/>
          </a:xfrm>
          <a:prstGeom prst="line">
            <a:avLst/>
          </a:prstGeom>
          <a:noFill/>
          <a:ln w="19050">
            <a:solidFill>
              <a:srgbClr val="12A3B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675120" y="14173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75120" y="1417320"/>
            <a:ext cx="64008" cy="777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1463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Module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(NEO-6M)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1228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TX=GPIO16 / RX=GPIO17 (UART2)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1805940"/>
            <a:ext cx="-1005840" cy="0"/>
          </a:xfrm>
          <a:prstGeom prst="line">
            <a:avLst/>
          </a:prstGeom>
          <a:noFill/>
          <a:ln w="19050">
            <a:solidFill>
              <a:srgbClr val="12A3BA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675120" y="25603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2560320"/>
            <a:ext cx="64008" cy="777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(128x64)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1228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SDA=GPIO21 / SCL=GPIO22 (I2C)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75120" y="2948940"/>
            <a:ext cx="-1005840" cy="0"/>
          </a:xfrm>
          <a:prstGeom prst="line">
            <a:avLst/>
          </a:prstGeom>
          <a:noFill/>
          <a:ln w="19050">
            <a:solidFill>
              <a:srgbClr val="12A3BA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675120" y="361188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75120" y="3611880"/>
            <a:ext cx="64008" cy="777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Motor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1228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Motor: GPIO19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0" y="4000500"/>
            <a:ext cx="-1005840" cy="0"/>
          </a:xfrm>
          <a:prstGeom prst="line">
            <a:avLst/>
          </a:prstGeom>
          <a:noFill/>
          <a:ln w="19050">
            <a:solidFill>
              <a:srgbClr val="12A3BA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749040" y="3749040"/>
            <a:ext cx="1645920" cy="5486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74904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3.7V Li-ion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Rechargeable Battery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Smart Blind Stick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6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Discussion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1874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1325880"/>
            <a:ext cx="1874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100cm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Alert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Threshold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325880"/>
            <a:ext cx="1874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Upload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325880"/>
            <a:ext cx="1874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70cm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2940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Detect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514600"/>
            <a:ext cx="1463040" cy="47548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146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Sensor Performance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11680" y="25603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HC-SR04 sensors reliably detected obstacles at CLOSE (&lt;20 cm), MEDIUM (&lt;50 cm) and FAR (&lt;100 cm) with variable alert patterns. Downward sensor correctly triggers pit alert when depth exceeds 70 cm.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63240"/>
            <a:ext cx="1463040" cy="47548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63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GPS Tracking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11680" y="31089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NEO-6M GPS decoded via TinyGPS++ on UART2 (GPIO16/17). Coordinates uploaded to Supabase REST API every 10 seconds. Wi-Fi auto-reconnect handles dropouts without system restart.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611880"/>
            <a:ext cx="1463040" cy="47548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11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OLED Display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11680" y="36576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shows live OBS/DEP readings, sensor status (OBS ACTIVE / DEP ACTIVE / OBS+DEP ACTIVE / NO DETECTION) and WiFi IP at startup. Updates every loop iteration.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160520"/>
            <a:ext cx="1463040" cy="47548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605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Cloud Monitoring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011680" y="420624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 database receives JSON payload {latitude, longitude, obstacle_distance} every 10 s, enabling any caregiver with dashboard access to monitor the user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Smart Blind Stick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6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8229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91440" cy="1920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173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IoT Based Smart Blind Stick successfully demonstrates an affordable and effective assistive technology for the visually impaired. By integrating ultrasonic sensors, IR sensors, GPS, GSM, and a water detection module with a microcontroller, the system provides real-time obstacle detection, ground hazard alerts, and continuous location monitoring for caregivers.</a:t>
            </a:r>
            <a:endParaRPr lang="en-US" sz="1250" dirty="0"/>
          </a:p>
          <a:p>
            <a:pPr algn="just" indent="0" marL="0">
              <a:spcAft>
                <a:spcPts val="600"/>
              </a:spcAft>
              <a:buNone/>
            </a:pPr>
            <a:endParaRPr lang="en-US" sz="12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 confirmed high accuracy in obstacle detection and reliable GPS tracking. The system is portable, lightweight, and operates for 8-10 hours on a single charge making it practical for daily use.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EE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383280"/>
            <a:ext cx="1645920" cy="320040"/>
          </a:xfrm>
          <a:prstGeom prst="rect">
            <a:avLst/>
          </a:prstGeom>
          <a:solidFill>
            <a:srgbClr val="12A3BA"/>
          </a:solidFill>
          <a:ln w="12700">
            <a:solidFill>
              <a:srgbClr val="12A3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Future Scope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object recognition   |   Voice navigation assistant   |   Mobile app integration   |   Fall detection sensor   |   Solar charging module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Smart Blind Stick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6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37160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Soundarya RP, Pooja Reddy B, Akshitha A, Anusha R, "Smart Blind Stick Using Arduino," International Journal of Advanced Research in Computer Science (IJARCS), Vol 11, Special Issue I, IACIT-2020, REVA University, Bengaluru, India, May 2020.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1901952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3911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39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194767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Keerthana MM, Madhusudhan S, Mahadev Prasad PS, Manu M, Vineeth Shandilya MJ, "IoT Enabled Smart Blind Stick," International Journal of Creative Research Thoughts (IJCRT), Vol. 12, Issue 5, ISSN: 2320-2882, ATME College of Engineering, Mysuru, May 2024.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2478024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252374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Ainul Bahriah Mohd Khir, Nur Farah Aina Ahmad Mazrullah, Nurul Izzah Zahirah Che Kamarudin, Mazniha Berahim, "SmartSight: IoT-Based Smart Blind Stick with Weather Detection and Anti-Lost Function," MARI (Multidisciplinary Applied Research and Innovation), Vol. 6 No. 2, pp. 162-171, UTHM Malaysia, Feb 2025.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3054096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91256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09981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RP. Jyoth Singh, P. Jahnavi, T. Lavanya, M. Krishna Reddy, K. Tejaswini, "Smart Blind Aid Stick: Enhancing Mobility &amp; Safety," International Journal of Creative Research Thoughts (IJCRT), Vol. 13, Issue 4, ISSN: 2320-2882, SRK Institute of Technology, Andhra Pradesh, April 2025.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3630168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67328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367588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Omkar Rajendra Solankar, Vikram Ramesh Thorat, Pratiksha Anil Shinde, Saniya Husen Shikh, "The Smart Blind Stick," Journal of Emerging Trends and Novel Research (JETNR), Vol. 4, Issue 3, ISSN: 2984-9276, Vidya Pratishthan’s Polytechnic College, Indapur, March 2026.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420624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343400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425196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Systems, "ESP32 Technical Reference Manual," [Online]. Available: https://www.espressif.com. TinyGPS++ Library: https://github.com/mikalhart/TinyGPSPlus. Supabase Documentation: https://supabase.com/docs. Adafruit SSD1306 Library: https://github.com/adafruit/Adafruit_SSD1306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IoT Based Smart Blind Stick</a:t>
            </a:r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 / 11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6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Source Code (Arduino / ESP32)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0D7C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000"/>
            <a:ext cx="4000000" cy="3380000"/>
          </a:xfrm>
          <a:prstGeom prst="rect">
            <a:avLst/>
          </a:prstGeom>
          <a:solidFill>
            <a:srgbClr val="0D1B30"/>
          </a:solidFill>
          <a:ln w="19050">
            <a:solidFill>
              <a:srgbClr val="0D7C8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3000" y="1310000"/>
            <a:ext cx="3900000" cy="331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F4A261"/>
                </a:solidFill>
                <a:latin typeface="Courier New" pitchFamily="49" charset="0"/>
              </a:rPr>
              <a:t>// ===== KEY DEFINITIONS =====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12A3BA"/>
                </a:solidFill>
                <a:latin typeface="Courier New" pitchFamily="49" charset="0"/>
              </a:rPr>
              <a:t>#define OBS_TRIG  5   // Obstacle sensor trigger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12A3BA"/>
                </a:solidFill>
                <a:latin typeface="Courier New" pitchFamily="49" charset="0"/>
              </a:rPr>
              <a:t>#define OBS_ECHO  18  // Obstacle sensor echo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12A3BA"/>
                </a:solidFill>
                <a:latin typeface="Courier New" pitchFamily="49" charset="0"/>
              </a:rPr>
              <a:t>#define DEP_TRIG  25  // Depth/pit sensor trigger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12A3BA"/>
                </a:solidFill>
                <a:latin typeface="Courier New" pitchFamily="49" charset="0"/>
              </a:rPr>
              <a:t>#define DEP_ECHO  26  // Depth/pit sensor echo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12A3BA"/>
                </a:solidFill>
                <a:latin typeface="Courier New" pitchFamily="49" charset="0"/>
              </a:rPr>
              <a:t>#define BUZZER    23  // Buzzer output pin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12A3BA"/>
                </a:solidFill>
                <a:latin typeface="Courier New" pitchFamily="49" charset="0"/>
              </a:rPr>
              <a:t>#define VIBRATION 19  // Vibration motor pin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ourier New" pitchFamily="49" charset="0"/>
              </a:rPr>
              <a:t>// OLED on I2C: SDA=21, SCL=22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ourier New" pitchFamily="49" charset="0"/>
              </a:rPr>
              <a:t>// GPS UART2: TX=16, RX=17</a:t>
            </a:r>
          </a:p>
          <a:p>
            <a:pPr indent="0" marL="0">
              <a:buNone/>
            </a:pPr>
            <a:r>
              <a:rPr lang="en-US" sz="700" b="1" dirty="0">
                <a:solidFill>
                  <a:srgbClr val="F4A261"/>
                </a:solidFill>
                <a:latin typeface="Courier New" pitchFamily="49" charset="0"/>
              </a:rPr>
              <a:t>// ===== DISTANCE FUNCTION =====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>float getDistance(int trig, int echo) {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 xml:space="preserve">  digitalWrite(trig, HIGH);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 xml:space="preserve">  delayMicroseconds(10);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 xml:space="preserve">  digitalWrite(trig, LOW);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 xml:space="preserve">  long dur = pulseIn(echo, HIGH, 30000);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 xml:space="preserve">  return dur * 0.0343 / 2.0;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>}</a:t>
            </a:r>
          </a:p>
          <a:p>
            <a:pPr indent="0" marL="0">
              <a:buNone/>
            </a:pPr>
            <a:r>
              <a:rPr lang="en-US" sz="700" b="1" dirty="0">
                <a:solidFill>
                  <a:srgbClr val="F4A261"/>
                </a:solidFill>
                <a:latin typeface="Courier New" pitchFamily="49" charset="0"/>
              </a:rPr>
              <a:t>// ===== BUZZER ALERT LOGIC =====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>if (depActive) {           // Pit detected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 xml:space="preserve">  buzz(100); delay(100);   // Rapid double pulse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>} else if (obs &lt; OBS_CLOSE) {  // &lt;20cm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 xml:space="preserve">  buzz(50);  delay(50);    // Very rapid pulse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>} else if (obs &lt; OBS_MEDIUM) { // &lt;50cm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 xml:space="preserve">  buzz(100); delay(150);   // Medium pulse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>} else if (obs &lt; OBS_FAR) {   // &lt;100cm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 xml:space="preserve">  buzz(100); delay(400);   // Slow pulse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1" name="Shape 9"/>
          <p:cNvSpPr/>
          <p:nvPr/>
        </p:nvSpPr>
        <p:spPr>
          <a:xfrm>
            <a:off x="4686000" y="1280000"/>
            <a:ext cx="4000800" cy="660000"/>
          </a:xfrm>
          <a:prstGeom prst="rect">
            <a:avLst/>
          </a:prstGeom>
          <a:solidFill>
            <a:srgbClr val="0D2F4A"/>
          </a:solidFill>
          <a:ln w="1905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0000" y="1295000"/>
            <a:ext cx="3900000" cy="63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</a:rPr>
              <a:t>Libraries Used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</a:rPr>
              <a:t>WiFi.h | HTTPClient.h | Wire.h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</a:rPr>
              <a:t>Adafruit_GFX | Adafruit_SSD1306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</a:rPr>
              <a:t>TinyGPS++ (GPS decoding)</a:t>
            </a:r>
          </a:p>
        </p:txBody>
      </p:sp>
      <p:sp>
        <p:nvSpPr>
          <p:cNvPr id="13" name="Shape 11"/>
          <p:cNvSpPr/>
          <p:nvPr/>
        </p:nvSpPr>
        <p:spPr>
          <a:xfrm>
            <a:off x="4686000" y="2010000"/>
            <a:ext cx="4000800" cy="600000"/>
          </a:xfrm>
          <a:prstGeom prst="rect">
            <a:avLst/>
          </a:prstGeom>
          <a:solidFill>
            <a:srgbClr val="0D2F4A"/>
          </a:solidFill>
          <a:ln w="1905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0000" y="2025000"/>
            <a:ext cx="3900000" cy="57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</a:rPr>
              <a:t>Supabase Cloud Upload (every 10s)</a:t>
            </a:r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49" charset="0"/>
              </a:rPr>
              <a:t>POST: latitude, longitude,</a:t>
            </a:r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49" charset="0"/>
              </a:rPr>
              <a:t xml:space="preserve">      obstacle_distance (cm)</a:t>
            </a:r>
          </a:p>
        </p:txBody>
      </p:sp>
      <p:sp>
        <p:nvSpPr>
          <p:cNvPr id="15" name="Shape 13"/>
          <p:cNvSpPr/>
          <p:nvPr/>
        </p:nvSpPr>
        <p:spPr>
          <a:xfrm>
            <a:off x="4686000" y="2680000"/>
            <a:ext cx="4000800" cy="600000"/>
          </a:xfrm>
          <a:prstGeom prst="rect">
            <a:avLst/>
          </a:prstGeom>
          <a:solidFill>
            <a:srgbClr val="0D2F4A"/>
          </a:solidFill>
          <a:ln w="1905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0000" y="2695000"/>
            <a:ext cx="3900000" cy="57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</a:rPr>
              <a:t>OLED Display Shows (Real-time)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</a:rPr>
              <a:t>OBS distance | DEP distance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</a:rPr>
              <a:t>Sensor status: OBS / DEP / OBS+DEP</a:t>
            </a:r>
          </a:p>
        </p:txBody>
      </p:sp>
      <p:sp>
        <p:nvSpPr>
          <p:cNvPr id="17" name="Shape 15"/>
          <p:cNvSpPr/>
          <p:nvPr/>
        </p:nvSpPr>
        <p:spPr>
          <a:xfrm>
            <a:off x="4686000" y="3350000"/>
            <a:ext cx="4000800" cy="590000"/>
          </a:xfrm>
          <a:prstGeom prst="rect">
            <a:avLst/>
          </a:prstGeom>
          <a:solidFill>
            <a:srgbClr val="0D2F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0000" y="3365000"/>
            <a:ext cx="3900000" cy="56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</a:rPr>
              <a:t>Alert Thresholds (Obstacle Sensor)</a:t>
            </a:r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</a:rPr>
              <a:t>CLOSE: &lt;20 cm  |  MEDIUM: &lt;50 cm</a:t>
            </a:r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alibri" pitchFamily="34" charset="0"/>
              </a:rPr>
              <a:t>FAR: &lt;100 cm  |  PIT DEPTH: &gt;70 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Based Smart Blind Stick</dc:title>
  <dc:subject>PptxGenJS Presentation</dc:subject>
  <dc:creator>PptxGenJS</dc:creator>
  <cp:lastModifiedBy>PptxGenJS</cp:lastModifiedBy>
  <cp:revision>1</cp:revision>
  <dcterms:created xsi:type="dcterms:W3CDTF">2026-04-10T04:26:31Z</dcterms:created>
  <dcterms:modified xsi:type="dcterms:W3CDTF">2026-04-10T04:26:31Z</dcterms:modified>
</cp:coreProperties>
</file>